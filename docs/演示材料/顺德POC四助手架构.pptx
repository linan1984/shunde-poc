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7"/>
                </a:solidFill>
                <a:latin typeface="PingFang SC"/>
              </a:defRPr>
            </a:pPr>
            <a:r>
              <a:rPr sz="1200" b="0" i="0" u="none" strike="noStrike">
                <a:solidFill>
                  <a:srgbClr val="1F2937"/>
                </a:solidFill>
                <a:latin typeface="PingFang SC"/>
              </a:rPr>
              <a:t>按日 Token（内核账本）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Token</c:v>
                </c:pt>
              </c:strCache>
            </c:strRef>
          </c:tx>
          <c:spPr>
            <a:solidFill>
              <a:srgbClr val="C5A55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5A55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2A3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9月14日</c:v>
                  </c:pt>
                  <c:pt idx="1">
                    <c:v>9月15日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924034</c:v>
                </c:pt>
                <c:pt idx="1">
                  <c:v>11350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EA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7"/>
                </a:solidFill>
                <a:latin typeface="PingFang SC"/>
              </a:defRPr>
            </a:pPr>
            <a:r>
              <a:rPr sz="1200" b="0" i="0" u="none" strike="noStrike">
                <a:solidFill>
                  <a:srgbClr val="1F2937"/>
                </a:solidFill>
                <a:latin typeface="PingFang SC"/>
              </a:rPr>
              <a:t>输入 / 输出构成</a:t>
            </a:r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A3A"/>
              </a:solidFill>
              <a:effectLst/>
            </c:spPr>
          </c:dPt>
          <c:dPt>
            <c:idx val="1"/>
            <c:bubble3D val="0"/>
            <c:spPr>
              <a:solidFill>
                <a:srgbClr val="C5A55A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输入 Prompt</c:v>
                </c:pt>
                <c:pt idx="1">
                  <c:v>输出 Completion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912678</c:v>
                </c:pt>
                <c:pt idx="1">
                  <c:v>22706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2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顺 德 农 商 行   P O C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四个助手架构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基于最新旁路代码：Excel 问答 · 多模态知识库 · 运营埋点 · 报告可视化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宿主 QwenPaw 2.2.2b1  ·  相对 2.0.0：缓存命中率 + Files 查看/下载  ·  POC 旁路不改内核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834640"/>
            <a:ext cx="10607040" cy="0"/>
          </a:xfrm>
          <a:prstGeom prst="line">
            <a:avLst/>
          </a:prstGeom>
          <a:noFill/>
          <a:ln w="12700">
            <a:solidFill>
              <a:srgbClr val="C5A55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3154680"/>
            <a:ext cx="2011680" cy="1234440"/>
          </a:xfrm>
          <a:prstGeom prst="rect">
            <a:avLst/>
          </a:prstGeom>
          <a:solidFill>
            <a:srgbClr val="2D3E5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2918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731520" y="3886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专用助手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926080" y="3154680"/>
            <a:ext cx="2011680" cy="1234440"/>
          </a:xfrm>
          <a:prstGeom prst="rect">
            <a:avLst/>
          </a:prstGeom>
          <a:solidFill>
            <a:srgbClr val="2D3E50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0" y="32918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25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926080" y="3886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MCP 工具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120640" y="3154680"/>
            <a:ext cx="2011680" cy="1234440"/>
          </a:xfrm>
          <a:prstGeom prst="rect">
            <a:avLst/>
          </a:prstGeom>
          <a:solidFill>
            <a:srgbClr val="2D3E50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32918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L1-L3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120640" y="3886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渐进加载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0" y="3154680"/>
            <a:ext cx="2011680" cy="1234440"/>
          </a:xfrm>
          <a:prstGeom prst="rect">
            <a:avLst/>
          </a:prstGeom>
          <a:solidFill>
            <a:srgbClr val="2D3E50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0" y="32918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Files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315200" y="3886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可查看下载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509760" y="3154680"/>
            <a:ext cx="2011680" cy="1234440"/>
          </a:xfrm>
          <a:prstGeom prst="rect">
            <a:avLst/>
          </a:prstGeom>
          <a:solidFill>
            <a:srgbClr val="2D3E50"/>
          </a:solidFill>
          <a:ln/>
        </p:spPr>
      </p:sp>
      <p:sp>
        <p:nvSpPr>
          <p:cNvPr id="21" name="Text 19"/>
          <p:cNvSpPr/>
          <p:nvPr/>
        </p:nvSpPr>
        <p:spPr>
          <a:xfrm>
            <a:off x="9509760" y="32918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2.0.0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9509760" y="3886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旧版是黑盒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0" y="6355080"/>
            <a:ext cx="1216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50" kern="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2026-09-15  |  glm-5.3-flash  |  Console  https://shunde-poc.harness-agent.app/chat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目录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 / 29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5440680" cy="10058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005840"/>
            <a:ext cx="73152" cy="1005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207008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11704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四助手总览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08760" y="15361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Agent / Skill / MCP 对照，以及本轮代码升级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5440680" cy="10058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148840"/>
            <a:ext cx="73152" cy="1005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350008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08760" y="23134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接入原则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08760" y="26791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QwenPaw 不 fork，旁路挂载 Skill + MCP + Hook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5440680" cy="10058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3291840"/>
            <a:ext cx="73152" cy="1005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493008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08760" y="34564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Excel 问答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08760" y="38221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 工具护栏 → pandas 精算 → 写后自检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434840"/>
            <a:ext cx="5440680" cy="10058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4434840"/>
            <a:ext cx="73152" cy="1005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636008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08760" y="45994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多模态文件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508760" y="49651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MinerU 入库 · 四库端口 · RRF 重排 · 看图作答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1005840"/>
            <a:ext cx="5440680" cy="10058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5" name="Shape 23"/>
          <p:cNvSpPr/>
          <p:nvPr/>
        </p:nvSpPr>
        <p:spPr>
          <a:xfrm>
            <a:off x="6309360" y="1005840"/>
            <a:ext cx="73152" cy="1005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1207008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269480" y="11704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运营埋点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269480" y="15361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不进插件市场；本地安装后看「已安装插件」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309360" y="2148840"/>
            <a:ext cx="5440680" cy="10058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30" name="Shape 28"/>
          <p:cNvSpPr/>
          <p:nvPr/>
        </p:nvSpPr>
        <p:spPr>
          <a:xfrm>
            <a:off x="6309360" y="2148840"/>
            <a:ext cx="73152" cy="1005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2350008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269480" y="23134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L1 / L2 / L3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269480" y="26791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skill列表摘要 → skill → mcp列表namespace前缀 → 详细mcp → 文件摘要 → 文件详情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309360" y="3291840"/>
            <a:ext cx="5440680" cy="10058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35" name="Shape 33"/>
          <p:cNvSpPr/>
          <p:nvPr/>
        </p:nvSpPr>
        <p:spPr>
          <a:xfrm>
            <a:off x="6309360" y="3291840"/>
            <a:ext cx="73152" cy="1005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6" name="Text 34"/>
          <p:cNvSpPr/>
          <p:nvPr/>
        </p:nvSpPr>
        <p:spPr>
          <a:xfrm>
            <a:off x="6537960" y="3493008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269480" y="34564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相对 2.0.0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269480" y="38221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缓存命中率、前缀一致性省 token、Files 可下载；旧版是黑盒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09360" y="4434840"/>
            <a:ext cx="5440680" cy="10058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40" name="Shape 38"/>
          <p:cNvSpPr/>
          <p:nvPr/>
        </p:nvSpPr>
        <p:spPr>
          <a:xfrm>
            <a:off x="6309360" y="4434840"/>
            <a:ext cx="73152" cy="1005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41" name="Text 39"/>
          <p:cNvSpPr/>
          <p:nvPr/>
        </p:nvSpPr>
        <p:spPr>
          <a:xfrm>
            <a:off x="6537960" y="4636008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08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7269480" y="45994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四助手任务分布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269480" y="49651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每个助手一张图；优化方向与落地合同一致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四个助手：前端名称、Agent、Skill、MCP 一一对应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 / 29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60120"/>
          <a:ext cx="11064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691640"/>
                <a:gridCol w="2011680"/>
                <a:gridCol w="1874520"/>
                <a:gridCol w="352044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前端名称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Agent ID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Skill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MCP（工具数）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本轮要点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Excel问答助手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excel-agent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excel-qa-bank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excel-guard ×9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检测损坏 / 识别编码 / 分块 / 描述结构 / 转 Markdown / 守卫写回 / 结构化读取 / OpenXML 校验 / 渲染成图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多模态文件助手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kb-agent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kb-qa-bank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kb-qa ×6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索引表格元数据 / 看图作答 / RRF 重排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运营助手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ops-agent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ops-assistant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ops-data ×3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列出埋点 / 汇总调用量 / 最近事件 · 无数据不编造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报告可视化助手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report-agent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report-visualizer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report-visualizer ×7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交叉表 + 柱/折/饼/散点/热力图 + 生成 docx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297680"/>
            <a:ext cx="11064240" cy="17830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4297680"/>
            <a:ext cx="73152" cy="1783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44348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模型与策略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4800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对话模型：Volcengine Ark / glm-5.3-flash（演示口径，不是行方最终 Qwen3.6）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MCP 策略：allow（演示不必每次点批准）  ·  路径沙箱：POC_WORKSPACE，越界拒绝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红线：不改 QwenPaw/src  ·  密钥只放 ~/.qwenpaw.secret（mode 600），不进 git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来源：docs/前端四助手交接文档.md 与 poc/*/server.py 最新工具清单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接入原则：官方内核不动，四个助手全部旁路挂载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 / 29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5532120" cy="21488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960120"/>
            <a:ext cx="73152" cy="2148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612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宿主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14630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QwenPaw 2.2.2b1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201168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当前宿主，git submodule，不 fork。相对旧版 2.0.0 多了 Files 查看/下载与 cache_read_tokens。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5532120" cy="21488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0" name="Shape 8"/>
          <p:cNvSpPr/>
          <p:nvPr/>
        </p:nvSpPr>
        <p:spPr>
          <a:xfrm>
            <a:off x="6309360" y="960120"/>
            <a:ext cx="73152" cy="2148840"/>
          </a:xfrm>
          <a:prstGeom prst="rect">
            <a:avLst/>
          </a:prstGeom>
          <a:solidFill>
            <a:srgbClr val="1E2A3A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11612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Skill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0" y="14630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skill_paths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583680" y="201168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poc/skills 登记进 ~/.qwenpaw/config.json，下发到对应智能体，每助手只启用 1 个 Skill。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5532120" cy="21488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3291840"/>
            <a:ext cx="73152" cy="2148840"/>
          </a:xfrm>
          <a:prstGeom prst="rect">
            <a:avLst/>
          </a:prstGeom>
          <a:solidFill>
            <a:srgbClr val="1E2A3A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4930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MCP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37947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stdio FastMCP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22960" y="434340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poc/config/mcp-*.json 导入 Console。25 个工具（Excel 9 + KB 6 + 运营 3 + 报告 7）。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09360" y="3291840"/>
            <a:ext cx="5532120" cy="21488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0" y="3291840"/>
            <a:ext cx="73152" cy="2148840"/>
          </a:xfrm>
          <a:prstGeom prst="rect">
            <a:avLst/>
          </a:prstGeom>
          <a:solidFill>
            <a:srgbClr val="1E2A3A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0" y="34930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Hook / 健康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0" y="37947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官方插件 API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583680" y="434340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poc-ops-telemetry 注册 6 个 Hook；poc-health 挂 /api/poc/health。均不改内核。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红线 2：git diff QwenPaw/ 必须为空。旁路永远在 poc/。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本轮代码升级：Excel 读面压缩 + 知识库多模态闭环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 / 29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5532120" cy="15544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960120"/>
            <a:ext cx="73152" cy="15544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2471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Excel · excel-guard 现为 9 工具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1527048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护栏 5 个 + 守卫写回 edit_workbook、结构化读取 inspect_workbook、OpenXML 校验 validate_workbook、渲染成图 render_workbook。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5532120" cy="15544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651760"/>
            <a:ext cx="73152" cy="15544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81635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结构压缩再精算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3218688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表头投票、合并区、公式别名；禁止整表转 markdown 让模型猜数。写后 audit_workbook：#REF! 等 must_fix，硬编码进 review。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5532120" cy="15544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4343400"/>
            <a:ext cx="73152" cy="15544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50799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黄金回归 10/10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4910328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干净明细 / 多级合并表头 / 未缓存公式列 / GBK CSV。基线按 skill 流程执行 10/10。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960120"/>
            <a:ext cx="5532120" cy="15544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63640" y="960120"/>
            <a:ext cx="73152" cy="15544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112471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KB · kb-qa 4→6 工具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37960" y="1527048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新增 ingest_spreadsheet（只索引表头/样例，定位文件）、analyze_page（页 PNG 看图作答）。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63640" y="2651760"/>
            <a:ext cx="5532120" cy="15544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1" name="Shape 19"/>
          <p:cNvSpPr/>
          <p:nvPr/>
        </p:nvSpPr>
        <p:spPr>
          <a:xfrm>
            <a:off x="6263640" y="2651760"/>
            <a:ext cx="73152" cy="15544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281635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检索升级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3218688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BM25 + 文本向量 + 图像向量 → RRF；多模态问才并入图像路。可选 qwen3.7-text-rerank 对 top16 重排。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63640" y="4343400"/>
            <a:ext cx="5532120" cy="15544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5" name="Shape 23"/>
          <p:cNvSpPr/>
          <p:nvPr/>
        </p:nvSpPr>
        <p:spPr>
          <a:xfrm>
            <a:off x="6263640" y="4343400"/>
            <a:ext cx="73152" cy="15544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450799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四库端口可降级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537960" y="4910328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ES 19200 / MySQL 13306 接通则活写；GALASYBASE 无镜像，图库走 graph.json。未接通不假装写入行方集群。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来源：poc/excel_guard_mcp/readers.py、poc/kb_mcp/{server,retrieve,vision,spreadsheet}.py、poc/evals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Excel问答助手：护栏通过后，数字只来自 pandas / openpyxl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 / 29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excel-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excel-guard ×9：检测损坏表 · 识别编码 · 超大表分块 · 描述表结构 · 表转 Markdown · 守卫写回 · 结构化读取 · OpenXML 校验 · 渲染成图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多模态文件助手：解析入库 → 四库 → 混合检索 → 看图作答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 / 29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kb-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kb-qa：解析文档 · 入库文档 · 索引表格元数据 · 检索知识 · 知识问答 · 看图作答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运营助手：只观察、只读 JSONL，没有埋点就说暂无埋点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 / 29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ops-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ops-data：列出埋点文件 · 汇总调用量 · 最近事件  ·  四类：调用量 / Token / 工具成败 / 耗时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埋点形态：插件装进去，Runtime 相位里跑，落盘是 JSONL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 / 29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hook-plugin-run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poc-ops-telemetry 一个插件注册 6 HookBase；市场看不到，已安装 Tab 才有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插件市场看不到 6 Hook：市场是远程目录，本插件是本地旁路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 / 29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868680"/>
            <a:ext cx="3657600" cy="26060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868680"/>
            <a:ext cx="73152" cy="2606040"/>
          </a:xfrm>
          <a:prstGeom prst="rect">
            <a:avLst/>
          </a:prstGeom>
          <a:solidFill>
            <a:srgbClr val="1E2A3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设置 → 插件管理 → 插件市场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35331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看不到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18745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拉的是 AgentScope 平台 /plugins/market/search。只列出已发布到 platform.agentscope.io 的插件。POC 没发布，所以搜不到。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868680"/>
            <a:ext cx="3657600" cy="26060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0" name="Shape 8"/>
          <p:cNvSpPr/>
          <p:nvPr/>
        </p:nvSpPr>
        <p:spPr>
          <a:xfrm>
            <a:off x="4343400" y="868680"/>
            <a:ext cx="73152" cy="2606040"/>
          </a:xfrm>
          <a:prstGeom prst="rect">
            <a:avLst/>
          </a:prstGeom>
          <a:solidFill>
            <a:srgbClr val="1E2A3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100584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设置 → 插件管理 → 官方插件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0" y="135331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看不到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572000" y="18745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拉的是官方 CDN 清单。poc-ops-telemetry 不在下载站，同样不会出现。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83880" y="868680"/>
            <a:ext cx="3657600" cy="26060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5" name="Shape 13"/>
          <p:cNvSpPr/>
          <p:nvPr/>
        </p:nvSpPr>
        <p:spPr>
          <a:xfrm>
            <a:off x="8183880" y="868680"/>
            <a:ext cx="73152" cy="26060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0" y="100584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设置 → 插件管理 → 已安装插件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0" y="135331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AE6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装完才有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412480" y="18745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本地 ~/.qwenpaw/plugins。qwenpaw plugin install 或「安装插件」拖入文件夹后，出现在这个 Tab，类型 Hook。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3657600"/>
            <a:ext cx="11155680" cy="24688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0" name="Shape 18"/>
          <p:cNvSpPr/>
          <p:nvPr/>
        </p:nvSpPr>
        <p:spPr>
          <a:xfrm>
            <a:off x="502920" y="3657600"/>
            <a:ext cx="73152" cy="24688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379476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怎么装到「已安装插件」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7240" y="416052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1. 停掉 QwenPaw（官方要求：装插件时内核必须离线）。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2. 命令行：qwenpaw plugin install &lt;仓库&gt;/poc/plugins/ops-telemetry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 或 Console「安装插件」把该文件夹拖进去（不要只在插件市场里搜）。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3. 重启后打开 设置 → 插件管理 → 已安装插件，应看到「运营埋点 Hook（6 Hook / 5 Phase）」。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市场里的分类「生命周期 Hook」是别人发布到平台的插件，不是本仓库这 6 个埋点。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来源：console PluginManager 三个 Tab  ·  GET /api/plugins/market/search  ·  docs/HOOK交接文档.md §7.1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现场实录：问 token 走内核账本，问失败率没有独立字段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11 / 29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ops-two-pat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2026-09-15 Console：「我的token」有 30 天数字；「看下失败率」对不上任何账本字段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「我的token」答出来的数字：内核 30 天账本，不是 JSONL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 / 29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868680"/>
            <a:ext cx="3657600" cy="13258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960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935,384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13898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30 天 Token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68249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Prompt 912,678 + Completion 22,706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868680"/>
            <a:ext cx="3657600" cy="13258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9" name="Text 7"/>
          <p:cNvSpPr/>
          <p:nvPr/>
        </p:nvSpPr>
        <p:spPr>
          <a:xfrm>
            <a:off x="4343400" y="960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50 次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343400" y="13898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模型调用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168249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9/14 占 49 次，今天 1 次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83880" y="868680"/>
            <a:ext cx="3657600" cy="13258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3" name="Text 11"/>
          <p:cNvSpPr/>
          <p:nvPr/>
        </p:nvSpPr>
        <p:spPr>
          <a:xfrm>
            <a:off x="8183880" y="960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glm-5.3-flash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183880" y="13898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全部来自该模型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83880" y="168249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内核按 provider:model 记账</a:t>
            </a:r>
            <a:endParaRPr lang="en-US" sz="11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11480" y="2331720"/>
          <a:ext cx="58521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Chart 1" descr=""/>
          <p:cNvGraphicFramePr/>
          <p:nvPr/>
        </p:nvGraphicFramePr>
        <p:xfrm>
          <a:off x="6309360" y="2331720"/>
          <a:ext cx="53949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Text 14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现场 10:21「我的token」· token_usage.json · 不是 ops.jsonl。9/15 只占 1.2%，柱状图几乎看不见是数据形状，不是缺图。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为什么「失败率」没有：四条原因，演示请改问法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13 / 29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5623560" cy="228600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5" name="Shape 3"/>
          <p:cNvSpPr/>
          <p:nvPr/>
        </p:nvSpPr>
        <p:spPr>
          <a:xfrm>
            <a:off x="704088" y="1170432"/>
            <a:ext cx="438912" cy="438912"/>
          </a:xfrm>
          <a:prstGeom prst="ellipse">
            <a:avLst/>
          </a:prstGeom>
          <a:solidFill>
            <a:srgbClr val="1E2A3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225296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80160" y="120700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内核没有失败率字段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58952" y="178308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TokenUsageManager 只记 prompt / completion / call_count。问完 token 再问失败率，模型还在同一本账上，翻不到这一页。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914400"/>
            <a:ext cx="5623560" cy="228600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0" name="Shape 8"/>
          <p:cNvSpPr/>
          <p:nvPr/>
        </p:nvSpPr>
        <p:spPr>
          <a:xfrm>
            <a:off x="6510528" y="1170432"/>
            <a:ext cx="438912" cy="438912"/>
          </a:xfrm>
          <a:prstGeom prst="ellipse">
            <a:avLst/>
          </a:prstGeom>
          <a:solidFill>
            <a:srgbClr val="1E2A3A"/>
          </a:solidFill>
          <a:ln/>
        </p:spPr>
      </p:sp>
      <p:sp>
        <p:nvSpPr>
          <p:cNvPr id="11" name="Text 9"/>
          <p:cNvSpPr/>
          <p:nvPr/>
        </p:nvSpPr>
        <p:spPr>
          <a:xfrm>
            <a:off x="6510528" y="1225296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86600" y="120700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JSONL 几乎不写 error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65392" y="178308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PRE_EXECUTE 一律记 status=ok（开始调用）。真正的 error 只在 ON_ERROR 未捕获异常时写。工具返回失败、用户看见的报错，大多不会落成失败率。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3383280"/>
            <a:ext cx="5623560" cy="228600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5" name="Shape 13"/>
          <p:cNvSpPr/>
          <p:nvPr/>
        </p:nvSpPr>
        <p:spPr>
          <a:xfrm>
            <a:off x="704088" y="3639312"/>
            <a:ext cx="438912" cy="438912"/>
          </a:xfrm>
          <a:prstGeom prst="ellipse">
            <a:avLst/>
          </a:prstGeom>
          <a:solidFill>
            <a:srgbClr val="1E2A3A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3694176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80160" y="367588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Skill 触发词不含「失败率」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58952" y="425196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ops-assistant 触发的是「调用量 / token 用量 / 哪个工具失败最多」。光说「看下失败率」不一定走到 ops-data。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09360" y="3383280"/>
            <a:ext cx="5623560" cy="228600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510528" y="3639312"/>
            <a:ext cx="438912" cy="438912"/>
          </a:xfrm>
          <a:prstGeom prst="ellipse">
            <a:avLst/>
          </a:prstGeom>
          <a:solidFill>
            <a:srgbClr val="1E2A3A"/>
          </a:solidFill>
          <a:ln/>
        </p:spPr>
      </p:sp>
      <p:sp>
        <p:nvSpPr>
          <p:cNvPr id="21" name="Text 19"/>
          <p:cNvSpPr/>
          <p:nvPr/>
        </p:nvSpPr>
        <p:spPr>
          <a:xfrm>
            <a:off x="6510528" y="3694176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086600" y="367588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无样本禁止编造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65392" y="425196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summarize_calls 可以按 status 计数。JSONL 里没有 error 行时，正确回答是「暂无失败埋点」，不能编一个百分比。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演示可以问什么：问对账本才有数字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14 / 29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200400"/>
                <a:gridCol w="47548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问法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走哪本账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现场预期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我的 token  /  token 用量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内核 token_usage.json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有。30 天、按日、输入/输出、模型名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今天调用量怎么样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JSONL call_volume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有文件才有数；没有就说暂无埋点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哪个工具用得最多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JSONL tool_outcome + summarize_calls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按 tool 计次，多数是 status=ok 的「开始调用」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最近一次失败的工具是什么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JSONL tool_outcome status=error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仅当 ON_ERROR 写过才有；没有就说暂无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看下失败率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两本账都没有现成字段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不要问。内核无此列，JSONL 也几乎无 error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转化率 / 用户反馈 / 营业日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未实现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不要问。不进 MySQL/ES，禁止编造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切到运营助手 ops-agent。token 类问题即使用默认助手也可能答出（内核账本）。失败率必须先有 JSONL error 行。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报告可视化助手：透视 → 五类图 PNG → python-docx 组装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15 / 29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report-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report-visualizer：交叉表 · 柱状图 · 折线图 · 饼图 · 散点图 · 热力图 · 生成 docx　输出锁在工作区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25 个 MCP 工具：中文名对照（演示时用中文说）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16 / 29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Excel问答  excel-guard（9）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15568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中文名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工具 ID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检测损坏表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detect_corrupt_workbook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识别编码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detect_encoding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超大表分块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chunk_large_workbook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描述表结构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describe_workbook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表转 Markdown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sheet_to_markdown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守卫写回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edit_workbook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结构化读取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inspect_workbook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OpenXML 校验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validate_workbook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渲染成图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render_workbook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217920" y="8046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多模态文件  kb-qa（6）</a:t>
            </a:r>
            <a:endParaRPr lang="en-US" sz="14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115568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中文名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工具 ID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解析文档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parse_document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入库文档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ingest_document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索引表格元数据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ingest_spreadsheet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检索知识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search_knowledge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知识问答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answer_knowledge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看图作答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analyze_page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下页继续：运营 3 工具、报告 7 工具。stdio 合计 9+6+3+7=25。preflight / audit 是 python 内护栏，不是 MCP。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运营 3 工具 + 报告 7 工具：中文名对照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17 / 29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运营助手  ops-data（3）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15568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中文名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工具 ID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列出埋点文件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list_telemetry_files_tool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汇总调用量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summarize_calls_tool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最近事件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recent_events_tool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217920" y="8046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报告可视化  report-visualizer（7）</a:t>
            </a:r>
            <a:endParaRPr lang="en-US" sz="14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115568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中文名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工具 ID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交叉表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pivot_table_tool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柱状图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render_bar_tool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折线图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render_line_tool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饼图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render_pie_tool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散点图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render_scatter_tool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热力图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render_heatmap_tool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生成 docx 报告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render_docx_report_tool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3794760"/>
            <a:ext cx="11247120" cy="233172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9" name="Shape 5"/>
          <p:cNvSpPr/>
          <p:nvPr/>
        </p:nvSpPr>
        <p:spPr>
          <a:xfrm>
            <a:off x="457200" y="3794760"/>
            <a:ext cx="73152" cy="23317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0" name="Text 6"/>
          <p:cNvSpPr/>
          <p:nvPr/>
        </p:nvSpPr>
        <p:spPr>
          <a:xfrm>
            <a:off x="731520" y="391363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运营写侧不是 MCP 工具，是 6 个 Hook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31520" y="4279392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调用量开始  poc_call_volume_start  ·  PRE_DISPATCH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调用量结束  poc_call_volume_end  ·  POST_DISPATCH（同时写耗时）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会话身份  poc_identity  ·  PRE_AGENT_BUILD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Token 用量  poc_token_usage  ·  POST_RESPONSE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工具开始  poc_tool_outcome  ·  PRE_EXECUTE（status=ok 表示开始调用）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工具异常  poc_tool_error  ·  ON_ERROR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Hook 装的是 poc-ops-telemetry 插件，不是 MCP。市场 Tab 看不到；已安装 Tab 才能看到。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四助手怎么协作：检索定位文件，代码负责算数字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18 / 29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640080" cy="640080"/>
          </a:xfrm>
          <a:prstGeom prst="ellipse">
            <a:avLst/>
          </a:prstGeom>
          <a:solidFill>
            <a:srgbClr val="1E2A3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32688" y="1828800"/>
            <a:ext cx="54864" cy="594360"/>
          </a:xfrm>
          <a:prstGeom prst="rect">
            <a:avLst/>
          </a:prstGeom>
          <a:solidFill>
            <a:srgbClr val="E8EAED"/>
          </a:solidFill>
          <a:ln/>
        </p:spPr>
      </p:sp>
      <p:sp>
        <p:nvSpPr>
          <p:cNvPr id="7" name="Shape 5"/>
          <p:cNvSpPr/>
          <p:nvPr/>
        </p:nvSpPr>
        <p:spPr>
          <a:xfrm>
            <a:off x="1554480" y="960120"/>
            <a:ext cx="10058400" cy="10972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8" name="Text 6"/>
          <p:cNvSpPr/>
          <p:nvPr/>
        </p:nvSpPr>
        <p:spPr>
          <a:xfrm>
            <a:off x="1783080" y="109728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多文件问「哪张表」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783080" y="1463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先调「索引表格元数据」ingest_spreadsheet：只索引文件名 / sheet / 表头 / 样例行，不把每一行灌进向量库。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423160"/>
            <a:ext cx="640080" cy="640080"/>
          </a:xfrm>
          <a:prstGeom prst="ellipse">
            <a:avLst/>
          </a:prstGeom>
          <a:solidFill>
            <a:srgbClr val="1E2A3A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514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932688" y="3063240"/>
            <a:ext cx="54864" cy="594360"/>
          </a:xfrm>
          <a:prstGeom prst="rect">
            <a:avLst/>
          </a:prstGeom>
          <a:solidFill>
            <a:srgbClr val="E8EAED"/>
          </a:solidFill>
          <a:ln/>
        </p:spPr>
      </p:sp>
      <p:sp>
        <p:nvSpPr>
          <p:cNvPr id="13" name="Shape 11"/>
          <p:cNvSpPr/>
          <p:nvPr/>
        </p:nvSpPr>
        <p:spPr>
          <a:xfrm>
            <a:off x="1554480" y="2194560"/>
            <a:ext cx="10058400" cy="10972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4" name="Text 12"/>
          <p:cNvSpPr/>
          <p:nvPr/>
        </p:nvSpPr>
        <p:spPr>
          <a:xfrm>
            <a:off x="1783080" y="233172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「检索知识」路由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783080" y="26974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search_knowledge 语义命中后拿到路径与 sheet。命中块只用来 locate，不当合计结果。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640080" cy="640080"/>
          </a:xfrm>
          <a:prstGeom prst="ellipse">
            <a:avLst/>
          </a:prstGeom>
          <a:solidFill>
            <a:srgbClr val="1E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749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932688" y="4297680"/>
            <a:ext cx="54864" cy="594360"/>
          </a:xfrm>
          <a:prstGeom prst="rect">
            <a:avLst/>
          </a:prstGeom>
          <a:solidFill>
            <a:srgbClr val="E8EAED"/>
          </a:solidFill>
          <a:ln/>
        </p:spPr>
      </p:sp>
      <p:sp>
        <p:nvSpPr>
          <p:cNvPr id="19" name="Shape 17"/>
          <p:cNvSpPr/>
          <p:nvPr/>
        </p:nvSpPr>
        <p:spPr>
          <a:xfrm>
            <a:off x="1554480" y="3429000"/>
            <a:ext cx="10058400" cy="10972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0" name="Text 18"/>
          <p:cNvSpPr/>
          <p:nvPr/>
        </p:nvSpPr>
        <p:spPr>
          <a:xfrm>
            <a:off x="1783080" y="356616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交回 Excel 精算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783080" y="39319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「描述表结构」describe_workbook → pandas / openpyxl 精算或写回。筛选、合计、写回必须以代码为准。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892040"/>
            <a:ext cx="640080" cy="640080"/>
          </a:xfrm>
          <a:prstGeom prst="ellipse">
            <a:avLst/>
          </a:prstGeom>
          <a:solidFill>
            <a:srgbClr val="1E2A3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983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1554480" y="4663440"/>
            <a:ext cx="10058400" cy="10972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5" name="Text 23"/>
          <p:cNvSpPr/>
          <p:nvPr/>
        </p:nvSpPr>
        <p:spPr>
          <a:xfrm>
            <a:off x="1783080" y="480060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图里数字走「看图作答」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783080" y="51663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命中表格/图片块后调 analyze_page 读页面 PNG；未配视觉模型如实降级，不编造。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评测闸门与中间件：能量化的不靠主观判断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19 / 29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2743200" cy="15544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7899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10/10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6276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Excel 黄金集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scripts/excel_qa_eval.py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960120"/>
            <a:ext cx="2743200" cy="15544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9" name="Text 7"/>
          <p:cNvSpPr/>
          <p:nvPr/>
        </p:nvSpPr>
        <p:spPr>
          <a:xfrm>
            <a:off x="3429000" y="107899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 条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29000" y="16276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KB Golden QA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text / table / image 分组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09360" y="960120"/>
            <a:ext cx="2743200" cy="15544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107899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25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309360" y="16276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stdio 工具齐全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 + 6 + 3 + 7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89720" y="960120"/>
            <a:ext cx="2743200" cy="155448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7" name="Text 15"/>
          <p:cNvSpPr/>
          <p:nvPr/>
        </p:nvSpPr>
        <p:spPr>
          <a:xfrm>
            <a:off x="9189720" y="107899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双端口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9189720" y="16276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ES + MySQL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8972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19200 / 13306，不占 9200/3306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  <a:gridCol w="55778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层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活路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未接通时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向量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Elasticsearch 8.17 :19200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本地 vectors.json + 哈希向量（单测不打外网）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关系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MySQL 8 :13306 / poc_kb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sqlite meta.sqlite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图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GALASYBASE 无官方镜像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graph.json，答案不得写成已写入 Galaxybase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解析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MinerU :18000 或 CLI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pypdf；空页 OCR；无 tesseract 说明原因不填假字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看图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POC_VISION_MODEL + 页 PNG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error_type=config/network，降级为切块文字并声明未核对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docker-compose.middleware.yml 绑定 127.0.0.1；密钥 ~/.qwenpaw.secret/middleware.env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演示入口：Console 下拉四个中文助手，按场景提问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 / 29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1064240" cy="1024128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960120"/>
            <a:ext cx="73152" cy="1024128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0698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Excel问答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141732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这个损坏表.xlsx 是不是坏了  /  乱码表示例.csv 是什么编码  /  超大表示例.xlsx 要不要分块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11064240" cy="1024128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103120"/>
            <a:ext cx="73152" cy="1024128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2128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多模态文件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8680" y="256032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逾期90天认定标准  /  表格里的经营贷款利率  /  柱状图数值（走「看图作答」analyze_page）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11064240" cy="1024128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3246120"/>
            <a:ext cx="73152" cy="1024128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3558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运营助手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370332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我的 token（内核账本）  /  今天调用量怎么样  /  哪个工具用得最多  /  不要问「失败率」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389120"/>
            <a:ext cx="11064240" cy="1024128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4389120"/>
            <a:ext cx="73152" cy="1024128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4988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报告可视化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484632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用分行业务.json 生成交叉表 + 五类图 docx，标题「顺德农商行 2025Q3 零售业务报告」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本机 http://127.0.0.1:5173/  ·  公网 https://shunde-poc.harness-agent.app/chat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L1 / L2 / L3：skill列表摘要 → skill → mcp列表namespace前缀 → 详细mcp → 文件摘要 → 文件详情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21 / 29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l123-ch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降低完成时间、提高准确率与效率；前缀一致性提高缓存命中率，省 token，提高 ROI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前缀一致性提高缓存命中率，从而省 token、提高 ROI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22 / 29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prefix-cache-ro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L1 skill列表摘要每轮相同；详细mcp / 文件摘要 / 文件详情后置。cache_read_tokens 记账，不编造命中百分比。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新版本比 2.0.0 好：有缓存命中率，Files 可查看、操作、生成、下载；旧版是黑盒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23 / 29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files-vs-black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2.2.2b1 Console Files；2.0.0 没有 Files 页，只能看聊天窗口。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Excel问答任务分布：skill列表摘要 → excel_guard__ → 文件摘要 → 文件详情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24 / 29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excel-task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检测损坏表 / 识别编码 / 描述表结构（摘要）→ 表转 Markdown、inspect（详情）→ pandas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多模态文件任务分布：skill列表摘要 → kb_qa__ → 文件摘要 → 文件详情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25 / 29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kb-task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解析文档 / 检索知识（摘要）→ 看图作答 analyze_page（详情）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运营助手任务分布：skill列表摘要 → ops_data__ → 文件摘要 → 文件详情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26 / 29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ops-task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列出埋点文件（摘要）→ 最近事件（详情）；无文件则暂无埋点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报告可视化任务分布：skill列表摘要 → report_visualizer__ → 文件摘要 → 文件详情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27 / 29</a:t>
            </a:r>
            <a:endParaRPr lang="en-US" sz="1000" dirty="0"/>
          </a:p>
        </p:txBody>
      </p:sp>
      <p:pic>
        <p:nvPicPr>
          <p:cNvPr id="4" name="Image 0" descr="/Users/linan/Desktop/aicode/shunde/docs/演示材料/architecture/report-task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216" y="804672"/>
            <a:ext cx="8705088" cy="5440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交叉表（摘要）→ 生成 Word 报告（详情）；Files 页可下载 docx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四个助手的优化方向（已落到 SKILL.md / MCP namespace）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0" y="64922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28 / 29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11155680" cy="1115568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05840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Excel问答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35331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L1 只留触发词。L2 给 excel_guard__ mcp列表。L3 先 describe 文件摘要，再 markdown/inspect 文件详情，最后 pandas。禁止整表进第一轮。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148840"/>
            <a:ext cx="11155680" cy="1115568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240280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多模态文件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58775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L1 短目录。L2 kb_qa__ 六工具列表。L3 先 parse/search 文件摘要，精确数字再 analyze_page 文件详情。表格合计仍交 Excel。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383280"/>
            <a:ext cx="11155680" cy="1115568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474720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运营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82219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L1 短目录。L2 ops_data__ 三工具。L3 先 list_telemetry_files 文件摘要，再 recent_events 文件详情。无 JSONL 不编造。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617720"/>
            <a:ext cx="11155680" cy="1115568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4709160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报告可视化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505663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L1 短目录。L2 report_visualizer__ 七工具。L3 先交叉表文件摘要，再 render_docx 文件详情。产物走 Files 查看/下载。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落地：poc/skills/*/SKILL.md 渐进加载合同 + poc/config/mcp-*.json namespace 字段。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722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L1/L2/L3 渐进加载 + 2.2.2b1 Files/缓存命中率：比 2.0.0 黑盒更省 token、更高 ROI。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3291840"/>
            <a:ext cx="2651760" cy="1371600"/>
          </a:xfrm>
          <a:prstGeom prst="rect">
            <a:avLst/>
          </a:prstGeom>
          <a:solidFill>
            <a:srgbClr val="2D3E5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Excel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931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excel_guard__ 先摘要后详情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520440" y="3291840"/>
            <a:ext cx="2651760" cy="1371600"/>
          </a:xfrm>
          <a:prstGeom prst="rect">
            <a:avLst/>
          </a:prstGeom>
          <a:solidFill>
            <a:srgbClr val="2D3E50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34747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知识库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11880" y="3931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kb_qa__ 先检索再看图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3291840"/>
            <a:ext cx="2651760" cy="1371600"/>
          </a:xfrm>
          <a:prstGeom prst="rect">
            <a:avLst/>
          </a:prstGeom>
          <a:solidFill>
            <a:srgbClr val="2D3E50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34747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运营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0" y="3931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ops_data__ 先列文件再事件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098280" y="3291840"/>
            <a:ext cx="2651760" cy="1371600"/>
          </a:xfrm>
          <a:prstGeom prst="rect">
            <a:avLst/>
          </a:prstGeom>
          <a:solidFill>
            <a:srgbClr val="2D3E50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34747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报告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189720" y="3931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docx 可在 Files 下载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0" y="6309360"/>
            <a:ext cx="1216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顺德农商行 POC  |  2026-09-15  |  宿主 2.2.2b1 vs 2.0.0 黑盒  |  旁路 poc/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顺德农商行 POC · 四个助手架构</dc:title>
  <dc:subject>Excel / 多模态 / 运营 / 报告可视化</dc:subject>
  <dc:creator>顺德农商行 POC</dc:creator>
  <cp:lastModifiedBy>顺德农商行 POC</cp:lastModifiedBy>
  <cp:revision>1</cp:revision>
  <dcterms:created xsi:type="dcterms:W3CDTF">2026-09-15T06:26:34Z</dcterms:created>
  <dcterms:modified xsi:type="dcterms:W3CDTF">2026-09-15T06:26:34Z</dcterms:modified>
</cp:coreProperties>
</file>